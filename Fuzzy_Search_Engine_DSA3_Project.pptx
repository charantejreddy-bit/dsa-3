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67" r:id="rId8"/>
    <p:sldId id="266" r:id="rId9"/>
    <p:sldId id="260" r:id="rId10"/>
    <p:sldId id="262"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23" d="100"/>
          <a:sy n="123" d="100"/>
        </p:scale>
        <p:origin x="114" y="1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Fuzzy Search Engine Using Edit Distance Algorithms</a:t>
            </a:r>
          </a:p>
        </p:txBody>
      </p:sp>
      <p:sp>
        <p:nvSpPr>
          <p:cNvPr id="3" name="Subtitle 2"/>
          <p:cNvSpPr>
            <a:spLocks noGrp="1"/>
          </p:cNvSpPr>
          <p:nvPr>
            <p:ph type="subTitle" idx="1"/>
          </p:nvPr>
        </p:nvSpPr>
        <p:spPr>
          <a:xfrm>
            <a:off x="4158295" y="3428999"/>
            <a:ext cx="4776477" cy="3312763"/>
          </a:xfrm>
        </p:spPr>
        <p:txBody>
          <a:bodyPr/>
          <a:lstStyle/>
          <a:p>
            <a:r>
              <a:rPr lang="en-US" dirty="0" err="1"/>
              <a:t>M.CharanTej</a:t>
            </a:r>
            <a:r>
              <a:rPr lang="en-US" dirty="0"/>
              <a:t> Reddy-2520030422</a:t>
            </a:r>
          </a:p>
          <a:p>
            <a:r>
              <a:rPr lang="en-US" dirty="0"/>
              <a:t>Chandrakanth Reddy-2520030290</a:t>
            </a:r>
          </a:p>
          <a:p>
            <a:r>
              <a:rPr lang="en-US" dirty="0"/>
              <a:t>Teja-2520030379</a:t>
            </a:r>
          </a:p>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gn="ctr">
              <a:lnSpc>
                <a:spcPct val="107000"/>
              </a:lnSpc>
              <a:spcAft>
                <a:spcPts val="800"/>
              </a:spcAft>
            </a:pP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Guide: J. </a:t>
            </a:r>
            <a:r>
              <a:rPr lang="en-US" sz="1800" b="1"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Yamini Devi</a:t>
            </a:r>
          </a:p>
          <a:p>
            <a:pPr algn="ctr">
              <a:lnSpc>
                <a:spcPct val="107000"/>
              </a:lnSpc>
              <a:spcAft>
                <a:spcPts val="800"/>
              </a:spcAft>
            </a:pPr>
            <a:r>
              <a:rPr lang="en-US" sz="1800" b="1"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Assistant Professor, CSE</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4" name="Rectangle 3"/>
          <p:cNvSpPr/>
          <p:nvPr/>
        </p:nvSpPr>
        <p:spPr>
          <a:xfrm>
            <a:off x="548640" y="1417320"/>
            <a:ext cx="11064240" cy="5074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691640"/>
            <a:ext cx="10515600" cy="3200400"/>
          </a:xfrm>
          <a:prstGeom prst="rect">
            <a:avLst/>
          </a:prstGeom>
          <a:noFill/>
        </p:spPr>
        <p:txBody>
          <a:bodyPr wrap="square">
            <a:spAutoFit/>
          </a:bodyPr>
          <a:lstStyle/>
          <a:p>
            <a:pPr>
              <a:lnSpc>
                <a:spcPct val="130000"/>
              </a:lnSpc>
            </a:pPr>
            <a:r>
              <a:rPr sz="2000" dirty="0">
                <a:solidFill>
                  <a:srgbClr val="333333"/>
                </a:solidFill>
              </a:rPr>
              <a:t>Search systems that rely on exact string matching often fail when users make typing mistakes, resulting in zero results and a poor user experience. This project presents a Fuzzy Search Engine that retrieves relevant words even when the input query is misspelled. The system computes the </a:t>
            </a:r>
            <a:r>
              <a:rPr sz="2000" dirty="0" err="1">
                <a:solidFill>
                  <a:srgbClr val="333333"/>
                </a:solidFill>
              </a:rPr>
              <a:t>Levenshtein</a:t>
            </a:r>
            <a:r>
              <a:rPr sz="2000" dirty="0">
                <a:solidFill>
                  <a:srgbClr val="333333"/>
                </a:solidFill>
              </a:rPr>
              <a:t> Edit Distance between the query and dictionary words to quantify similarity, and ranks candidate suggestions by their similarity scores so that the most relevant matches are returned first. To ensure practicality, the engine is designed to handle large dictionaries efficiently and to support multilingual text through Unicode-based processing — ultimately improving the overall search experience despite typing errors.</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4" name="Rectangle 3"/>
          <p:cNvSpPr/>
          <p:nvPr/>
        </p:nvSpPr>
        <p:spPr>
          <a:xfrm>
            <a:off x="548640" y="1417320"/>
            <a:ext cx="11064240" cy="5074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691640"/>
            <a:ext cx="10515600" cy="4572000"/>
          </a:xfrm>
          <a:prstGeom prst="rect">
            <a:avLst/>
          </a:prstGeom>
          <a:noFill/>
        </p:spPr>
        <p:txBody>
          <a:bodyPr wrap="square">
            <a:spAutoFit/>
          </a:bodyPr>
          <a:lstStyle/>
          <a:p>
            <a:pPr marL="228600" indent="-228600" algn="l">
              <a:spcAft>
                <a:spcPts val="1600"/>
              </a:spcAft>
              <a:buFont typeface="Arial"/>
              <a:buChar char="•"/>
            </a:pPr>
            <a:r>
              <a:rPr sz="1900">
                <a:solidFill>
                  <a:srgbClr val="333333"/>
                </a:solidFill>
              </a:rPr>
              <a:t>In today's digital applications, users frequently make spelling mistakes while searching for product names, medical terms, contact records, or general web content.</a:t>
            </a:r>
          </a:p>
          <a:p>
            <a:pPr marL="228600" indent="-228600" algn="l">
              <a:spcAft>
                <a:spcPts val="1600"/>
              </a:spcAft>
              <a:buFont typeface="Arial"/>
              <a:buChar char="•"/>
            </a:pPr>
            <a:r>
              <a:rPr sz="1900">
                <a:solidFill>
                  <a:srgbClr val="333333"/>
                </a:solidFill>
              </a:rPr>
              <a:t>Conventional exact-match search techniques return zero results for such misspelled queries, which leads to a frustrating user experience.</a:t>
            </a:r>
          </a:p>
          <a:p>
            <a:pPr marL="228600" indent="-228600" algn="l">
              <a:spcAft>
                <a:spcPts val="1600"/>
              </a:spcAft>
              <a:buFont typeface="Arial"/>
              <a:buChar char="•"/>
            </a:pPr>
            <a:r>
              <a:rPr sz="1900">
                <a:solidFill>
                  <a:srgbClr val="333333"/>
                </a:solidFill>
              </a:rPr>
              <a:t>Fuzzy search overcomes this limitation by retrieving words that are “close enough” to the query, using edit-distance based similarity measures.</a:t>
            </a:r>
          </a:p>
          <a:p>
            <a:pPr marL="228600" indent="-228600" algn="l">
              <a:spcAft>
                <a:spcPts val="1600"/>
              </a:spcAft>
              <a:buFont typeface="Arial"/>
              <a:buChar char="•"/>
            </a:pPr>
            <a:r>
              <a:rPr sz="1900">
                <a:solidFill>
                  <a:srgbClr val="333333"/>
                </a:solidFill>
              </a:rPr>
              <a:t>The Levenshtein Distance algorithm calculates the minimum number of insertions, deletions, and substitutions required to transform one string into another.</a:t>
            </a:r>
          </a:p>
          <a:p>
            <a:pPr marL="228600" indent="-228600" algn="l">
              <a:spcAft>
                <a:spcPts val="1600"/>
              </a:spcAft>
              <a:buFont typeface="Arial"/>
              <a:buChar char="•"/>
            </a:pPr>
            <a:r>
              <a:rPr sz="1900">
                <a:solidFill>
                  <a:srgbClr val="333333"/>
                </a:solidFill>
              </a:rPr>
              <a:t>This project builds a fuzzy search system that uses Levenshtein Distance to detect misspelled search terms, rank suggestions by similarity score, and scale to large, multilingual dictionaries.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4" name="Rectangle 3"/>
          <p:cNvSpPr/>
          <p:nvPr/>
        </p:nvSpPr>
        <p:spPr>
          <a:xfrm>
            <a:off x="548640" y="1417320"/>
            <a:ext cx="11064240" cy="5074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731520" y="1600200"/>
          <a:ext cx="10698478" cy="4480560"/>
        </p:xfrm>
        <a:graphic>
          <a:graphicData uri="http://schemas.openxmlformats.org/drawingml/2006/table">
            <a:tbl>
              <a:tblPr firstRow="1" bandRow="1">
                <a:tableStyleId>{5C22544A-7EE6-4342-B048-85BDC9FD1C3A}</a:tableStyleId>
              </a:tblPr>
              <a:tblGrid>
                <a:gridCol w="563077">
                  <a:extLst>
                    <a:ext uri="{9D8B030D-6E8A-4147-A177-3AD203B41FA5}">
                      <a16:colId xmlns:a16="http://schemas.microsoft.com/office/drawing/2014/main" val="20000"/>
                    </a:ext>
                  </a:extLst>
                </a:gridCol>
                <a:gridCol w="2252311">
                  <a:extLst>
                    <a:ext uri="{9D8B030D-6E8A-4147-A177-3AD203B41FA5}">
                      <a16:colId xmlns:a16="http://schemas.microsoft.com/office/drawing/2014/main" val="20001"/>
                    </a:ext>
                  </a:extLst>
                </a:gridCol>
                <a:gridCol w="4598469">
                  <a:extLst>
                    <a:ext uri="{9D8B030D-6E8A-4147-A177-3AD203B41FA5}">
                      <a16:colId xmlns:a16="http://schemas.microsoft.com/office/drawing/2014/main" val="20002"/>
                    </a:ext>
                  </a:extLst>
                </a:gridCol>
                <a:gridCol w="3284621">
                  <a:extLst>
                    <a:ext uri="{9D8B030D-6E8A-4147-A177-3AD203B41FA5}">
                      <a16:colId xmlns:a16="http://schemas.microsoft.com/office/drawing/2014/main" val="20003"/>
                    </a:ext>
                  </a:extLst>
                </a:gridCol>
              </a:tblGrid>
              <a:tr h="746760">
                <a:tc>
                  <a:txBody>
                    <a:bodyPr/>
                    <a:lstStyle/>
                    <a:p>
                      <a:pPr algn="ctr"/>
                      <a:r>
                        <a:rPr sz="1400" b="1">
                          <a:solidFill>
                            <a:srgbClr val="FFFFFF"/>
                          </a:solidFill>
                        </a:rPr>
                        <a:t>#</a:t>
                      </a:r>
                    </a:p>
                  </a:txBody>
                  <a:tcPr marL="76200" marR="76200" marT="38100" marB="38100" anchor="ctr">
                    <a:solidFill>
                      <a:srgbClr val="C00000"/>
                    </a:solidFill>
                  </a:tcPr>
                </a:tc>
                <a:tc>
                  <a:txBody>
                    <a:bodyPr/>
                    <a:lstStyle/>
                    <a:p>
                      <a:pPr algn="l"/>
                      <a:r>
                        <a:rPr sz="1400" b="1">
                          <a:solidFill>
                            <a:srgbClr val="FFFFFF"/>
                          </a:solidFill>
                        </a:rPr>
                        <a:t>Study</a:t>
                      </a:r>
                    </a:p>
                  </a:txBody>
                  <a:tcPr marL="76200" marR="76200" marT="38100" marB="38100" anchor="ctr">
                    <a:solidFill>
                      <a:srgbClr val="C00000"/>
                    </a:solidFill>
                  </a:tcPr>
                </a:tc>
                <a:tc>
                  <a:txBody>
                    <a:bodyPr/>
                    <a:lstStyle/>
                    <a:p>
                      <a:pPr algn="l"/>
                      <a:r>
                        <a:rPr sz="1400" b="1">
                          <a:solidFill>
                            <a:srgbClr val="FFFFFF"/>
                          </a:solidFill>
                        </a:rPr>
                        <a:t>Technique Used</a:t>
                      </a:r>
                    </a:p>
                  </a:txBody>
                  <a:tcPr marL="76200" marR="76200" marT="38100" marB="38100" anchor="ctr">
                    <a:solidFill>
                      <a:srgbClr val="C00000"/>
                    </a:solidFill>
                  </a:tcPr>
                </a:tc>
                <a:tc>
                  <a:txBody>
                    <a:bodyPr/>
                    <a:lstStyle/>
                    <a:p>
                      <a:pPr algn="l"/>
                      <a:r>
                        <a:rPr sz="1400" b="1">
                          <a:solidFill>
                            <a:srgbClr val="FFFFFF"/>
                          </a:solidFill>
                        </a:rPr>
                        <a:t>Limitation</a:t>
                      </a:r>
                    </a:p>
                  </a:txBody>
                  <a:tcPr marL="76200" marR="76200" marT="38100" marB="38100" anchor="ctr">
                    <a:solidFill>
                      <a:srgbClr val="C00000"/>
                    </a:solidFill>
                  </a:tcPr>
                </a:tc>
                <a:extLst>
                  <a:ext uri="{0D108BD9-81ED-4DB2-BD59-A6C34878D82A}">
                    <a16:rowId xmlns:a16="http://schemas.microsoft.com/office/drawing/2014/main" val="10000"/>
                  </a:ext>
                </a:extLst>
              </a:tr>
              <a:tr h="746760">
                <a:tc>
                  <a:txBody>
                    <a:bodyPr/>
                    <a:lstStyle/>
                    <a:p>
                      <a:pPr algn="ctr"/>
                      <a:r>
                        <a:rPr sz="1300" b="0">
                          <a:solidFill>
                            <a:srgbClr val="333333"/>
                          </a:solidFill>
                        </a:rPr>
                        <a:t>1</a:t>
                      </a:r>
                    </a:p>
                  </a:txBody>
                  <a:tcPr marL="76200" marR="76200" marT="38100" marB="38100" anchor="ctr">
                    <a:solidFill>
                      <a:srgbClr val="FFFFFF"/>
                    </a:solidFill>
                  </a:tcPr>
                </a:tc>
                <a:tc>
                  <a:txBody>
                    <a:bodyPr/>
                    <a:lstStyle/>
                    <a:p>
                      <a:pPr algn="l"/>
                      <a:r>
                        <a:rPr sz="1300" b="0">
                          <a:solidFill>
                            <a:srgbClr val="333333"/>
                          </a:solidFill>
                        </a:rPr>
                        <a:t>Levenshtein (1966)</a:t>
                      </a:r>
                    </a:p>
                  </a:txBody>
                  <a:tcPr marL="76200" marR="76200" marT="38100" marB="38100" anchor="ctr">
                    <a:solidFill>
                      <a:srgbClr val="FFFFFF"/>
                    </a:solidFill>
                  </a:tcPr>
                </a:tc>
                <a:tc>
                  <a:txBody>
                    <a:bodyPr/>
                    <a:lstStyle/>
                    <a:p>
                      <a:pPr algn="l"/>
                      <a:r>
                        <a:rPr sz="1300" b="0">
                          <a:solidFill>
                            <a:srgbClr val="333333"/>
                          </a:solidFill>
                        </a:rPr>
                        <a:t>Edit Distance metric (insertion, deletion, substitution)</a:t>
                      </a:r>
                    </a:p>
                  </a:txBody>
                  <a:tcPr marL="76200" marR="76200" marT="38100" marB="38100" anchor="ctr">
                    <a:solidFill>
                      <a:srgbClr val="FFFFFF"/>
                    </a:solidFill>
                  </a:tcPr>
                </a:tc>
                <a:tc>
                  <a:txBody>
                    <a:bodyPr/>
                    <a:lstStyle/>
                    <a:p>
                      <a:pPr algn="l"/>
                      <a:r>
                        <a:rPr sz="1300" b="0">
                          <a:solidFill>
                            <a:srgbClr val="333333"/>
                          </a:solidFill>
                        </a:rPr>
                        <a:t>High computation cost — O(n·m) for long strings</a:t>
                      </a:r>
                    </a:p>
                  </a:txBody>
                  <a:tcPr marL="76200" marR="76200" marT="38100" marB="38100" anchor="ctr">
                    <a:solidFill>
                      <a:srgbClr val="FFFFFF"/>
                    </a:solidFill>
                  </a:tcPr>
                </a:tc>
                <a:extLst>
                  <a:ext uri="{0D108BD9-81ED-4DB2-BD59-A6C34878D82A}">
                    <a16:rowId xmlns:a16="http://schemas.microsoft.com/office/drawing/2014/main" val="10001"/>
                  </a:ext>
                </a:extLst>
              </a:tr>
              <a:tr h="746760">
                <a:tc>
                  <a:txBody>
                    <a:bodyPr/>
                    <a:lstStyle/>
                    <a:p>
                      <a:pPr algn="ctr"/>
                      <a:r>
                        <a:rPr sz="1300" b="0">
                          <a:solidFill>
                            <a:srgbClr val="333333"/>
                          </a:solidFill>
                        </a:rPr>
                        <a:t>2</a:t>
                      </a:r>
                    </a:p>
                  </a:txBody>
                  <a:tcPr marL="76200" marR="76200" marT="38100" marB="38100" anchor="ctr">
                    <a:solidFill>
                      <a:srgbClr val="F2F2F2"/>
                    </a:solidFill>
                  </a:tcPr>
                </a:tc>
                <a:tc>
                  <a:txBody>
                    <a:bodyPr/>
                    <a:lstStyle/>
                    <a:p>
                      <a:pPr algn="l"/>
                      <a:r>
                        <a:rPr sz="1300" b="0">
                          <a:solidFill>
                            <a:srgbClr val="333333"/>
                          </a:solidFill>
                        </a:rPr>
                        <a:t>Burkhard &amp; Keller (1973)</a:t>
                      </a:r>
                    </a:p>
                  </a:txBody>
                  <a:tcPr marL="76200" marR="76200" marT="38100" marB="38100" anchor="ctr">
                    <a:solidFill>
                      <a:srgbClr val="F2F2F2"/>
                    </a:solidFill>
                  </a:tcPr>
                </a:tc>
                <a:tc>
                  <a:txBody>
                    <a:bodyPr/>
                    <a:lstStyle/>
                    <a:p>
                      <a:pPr algn="l"/>
                      <a:r>
                        <a:rPr sz="1300" b="0">
                          <a:solidFill>
                            <a:srgbClr val="333333"/>
                          </a:solidFill>
                        </a:rPr>
                        <a:t>BK-Tree metric-space indexing</a:t>
                      </a:r>
                    </a:p>
                  </a:txBody>
                  <a:tcPr marL="76200" marR="76200" marT="38100" marB="38100" anchor="ctr">
                    <a:solidFill>
                      <a:srgbClr val="F2F2F2"/>
                    </a:solidFill>
                  </a:tcPr>
                </a:tc>
                <a:tc>
                  <a:txBody>
                    <a:bodyPr/>
                    <a:lstStyle/>
                    <a:p>
                      <a:pPr algn="l"/>
                      <a:r>
                        <a:rPr sz="1300" b="0">
                          <a:solidFill>
                            <a:srgbClr val="333333"/>
                          </a:solidFill>
                        </a:rPr>
                        <a:t>Effective only for discrete metric spaces</a:t>
                      </a:r>
                    </a:p>
                  </a:txBody>
                  <a:tcPr marL="76200" marR="76200" marT="38100" marB="38100" anchor="ctr">
                    <a:solidFill>
                      <a:srgbClr val="F2F2F2"/>
                    </a:solidFill>
                  </a:tcPr>
                </a:tc>
                <a:extLst>
                  <a:ext uri="{0D108BD9-81ED-4DB2-BD59-A6C34878D82A}">
                    <a16:rowId xmlns:a16="http://schemas.microsoft.com/office/drawing/2014/main" val="10002"/>
                  </a:ext>
                </a:extLst>
              </a:tr>
              <a:tr h="746760">
                <a:tc>
                  <a:txBody>
                    <a:bodyPr/>
                    <a:lstStyle/>
                    <a:p>
                      <a:pPr algn="ctr"/>
                      <a:r>
                        <a:rPr sz="1300" b="0">
                          <a:solidFill>
                            <a:srgbClr val="333333"/>
                          </a:solidFill>
                        </a:rPr>
                        <a:t>3</a:t>
                      </a:r>
                    </a:p>
                  </a:txBody>
                  <a:tcPr marL="76200" marR="76200" marT="38100" marB="38100" anchor="ctr">
                    <a:solidFill>
                      <a:srgbClr val="FFFFFF"/>
                    </a:solidFill>
                  </a:tcPr>
                </a:tc>
                <a:tc>
                  <a:txBody>
                    <a:bodyPr/>
                    <a:lstStyle/>
                    <a:p>
                      <a:pPr algn="l"/>
                      <a:r>
                        <a:rPr sz="1300" b="0">
                          <a:solidFill>
                            <a:srgbClr val="333333"/>
                          </a:solidFill>
                        </a:rPr>
                        <a:t>Norvig (2007)</a:t>
                      </a:r>
                    </a:p>
                  </a:txBody>
                  <a:tcPr marL="76200" marR="76200" marT="38100" marB="38100" anchor="ctr">
                    <a:solidFill>
                      <a:srgbClr val="FFFFFF"/>
                    </a:solidFill>
                  </a:tcPr>
                </a:tc>
                <a:tc>
                  <a:txBody>
                    <a:bodyPr/>
                    <a:lstStyle/>
                    <a:p>
                      <a:pPr algn="l"/>
                      <a:r>
                        <a:rPr sz="1300" b="0">
                          <a:solidFill>
                            <a:srgbClr val="333333"/>
                          </a:solidFill>
                        </a:rPr>
                        <a:t>Probabilistic edit-distance spell correction</a:t>
                      </a:r>
                    </a:p>
                  </a:txBody>
                  <a:tcPr marL="76200" marR="76200" marT="38100" marB="38100" anchor="ctr">
                    <a:solidFill>
                      <a:srgbClr val="FFFFFF"/>
                    </a:solidFill>
                  </a:tcPr>
                </a:tc>
                <a:tc>
                  <a:txBody>
                    <a:bodyPr/>
                    <a:lstStyle/>
                    <a:p>
                      <a:pPr algn="l"/>
                      <a:r>
                        <a:rPr sz="1300" b="0">
                          <a:solidFill>
                            <a:srgbClr val="333333"/>
                          </a:solidFill>
                        </a:rPr>
                        <a:t>Limited to a single-language dictionary</a:t>
                      </a:r>
                    </a:p>
                  </a:txBody>
                  <a:tcPr marL="76200" marR="76200" marT="38100" marB="38100" anchor="ctr">
                    <a:solidFill>
                      <a:srgbClr val="FFFFFF"/>
                    </a:solidFill>
                  </a:tcPr>
                </a:tc>
                <a:extLst>
                  <a:ext uri="{0D108BD9-81ED-4DB2-BD59-A6C34878D82A}">
                    <a16:rowId xmlns:a16="http://schemas.microsoft.com/office/drawing/2014/main" val="10003"/>
                  </a:ext>
                </a:extLst>
              </a:tr>
              <a:tr h="746760">
                <a:tc>
                  <a:txBody>
                    <a:bodyPr/>
                    <a:lstStyle/>
                    <a:p>
                      <a:pPr algn="ctr"/>
                      <a:r>
                        <a:rPr sz="1300" b="0">
                          <a:solidFill>
                            <a:srgbClr val="333333"/>
                          </a:solidFill>
                        </a:rPr>
                        <a:t>4</a:t>
                      </a:r>
                    </a:p>
                  </a:txBody>
                  <a:tcPr marL="76200" marR="76200" marT="38100" marB="38100" anchor="ctr">
                    <a:solidFill>
                      <a:srgbClr val="F2F2F2"/>
                    </a:solidFill>
                  </a:tcPr>
                </a:tc>
                <a:tc>
                  <a:txBody>
                    <a:bodyPr/>
                    <a:lstStyle/>
                    <a:p>
                      <a:pPr algn="l"/>
                      <a:r>
                        <a:rPr sz="1300" b="0">
                          <a:solidFill>
                            <a:srgbClr val="333333"/>
                          </a:solidFill>
                        </a:rPr>
                        <a:t>Navarro (2001)</a:t>
                      </a:r>
                    </a:p>
                  </a:txBody>
                  <a:tcPr marL="76200" marR="76200" marT="38100" marB="38100" anchor="ctr">
                    <a:solidFill>
                      <a:srgbClr val="F2F2F2"/>
                    </a:solidFill>
                  </a:tcPr>
                </a:tc>
                <a:tc>
                  <a:txBody>
                    <a:bodyPr/>
                    <a:lstStyle/>
                    <a:p>
                      <a:pPr algn="l"/>
                      <a:r>
                        <a:rPr sz="1300" b="0">
                          <a:solidFill>
                            <a:srgbClr val="333333"/>
                          </a:solidFill>
                        </a:rPr>
                        <a:t>Survey of approximate string matching algorithms</a:t>
                      </a:r>
                    </a:p>
                  </a:txBody>
                  <a:tcPr marL="76200" marR="76200" marT="38100" marB="38100" anchor="ctr">
                    <a:solidFill>
                      <a:srgbClr val="F2F2F2"/>
                    </a:solidFill>
                  </a:tcPr>
                </a:tc>
                <a:tc>
                  <a:txBody>
                    <a:bodyPr/>
                    <a:lstStyle/>
                    <a:p>
                      <a:pPr algn="l"/>
                      <a:r>
                        <a:rPr sz="1300" b="0">
                          <a:solidFill>
                            <a:srgbClr val="333333"/>
                          </a:solidFill>
                        </a:rPr>
                        <a:t>Trade-off between accuracy and speed not resolved</a:t>
                      </a:r>
                    </a:p>
                  </a:txBody>
                  <a:tcPr marL="76200" marR="76200" marT="38100" marB="38100" anchor="ctr">
                    <a:solidFill>
                      <a:srgbClr val="F2F2F2"/>
                    </a:solidFill>
                  </a:tcPr>
                </a:tc>
                <a:extLst>
                  <a:ext uri="{0D108BD9-81ED-4DB2-BD59-A6C34878D82A}">
                    <a16:rowId xmlns:a16="http://schemas.microsoft.com/office/drawing/2014/main" val="10004"/>
                  </a:ext>
                </a:extLst>
              </a:tr>
              <a:tr h="746760">
                <a:tc>
                  <a:txBody>
                    <a:bodyPr/>
                    <a:lstStyle/>
                    <a:p>
                      <a:pPr algn="ctr"/>
                      <a:r>
                        <a:rPr sz="1300" b="0">
                          <a:solidFill>
                            <a:srgbClr val="333333"/>
                          </a:solidFill>
                        </a:rPr>
                        <a:t>5</a:t>
                      </a:r>
                    </a:p>
                  </a:txBody>
                  <a:tcPr marL="76200" marR="76200" marT="38100" marB="38100" anchor="ctr">
                    <a:solidFill>
                      <a:srgbClr val="FFFFFF"/>
                    </a:solidFill>
                  </a:tcPr>
                </a:tc>
                <a:tc>
                  <a:txBody>
                    <a:bodyPr/>
                    <a:lstStyle/>
                    <a:p>
                      <a:pPr algn="l"/>
                      <a:r>
                        <a:rPr sz="1300" b="0">
                          <a:solidFill>
                            <a:srgbClr val="333333"/>
                          </a:solidFill>
                        </a:rPr>
                        <a:t>Boytsov (2011)</a:t>
                      </a:r>
                    </a:p>
                  </a:txBody>
                  <a:tcPr marL="76200" marR="76200" marT="38100" marB="38100" anchor="ctr">
                    <a:solidFill>
                      <a:srgbClr val="FFFFFF"/>
                    </a:solidFill>
                  </a:tcPr>
                </a:tc>
                <a:tc>
                  <a:txBody>
                    <a:bodyPr/>
                    <a:lstStyle/>
                    <a:p>
                      <a:pPr algn="l"/>
                      <a:r>
                        <a:rPr sz="1300" b="0">
                          <a:solidFill>
                            <a:srgbClr val="333333"/>
                          </a:solidFill>
                        </a:rPr>
                        <a:t>N-gram inverted indexing for approximate search</a:t>
                      </a:r>
                    </a:p>
                  </a:txBody>
                  <a:tcPr marL="76200" marR="76200" marT="38100" marB="38100" anchor="ctr">
                    <a:solidFill>
                      <a:srgbClr val="FFFFFF"/>
                    </a:solidFill>
                  </a:tcPr>
                </a:tc>
                <a:tc>
                  <a:txBody>
                    <a:bodyPr/>
                    <a:lstStyle/>
                    <a:p>
                      <a:pPr algn="l"/>
                      <a:r>
                        <a:rPr sz="1300" b="0">
                          <a:solidFill>
                            <a:srgbClr val="333333"/>
                          </a:solidFill>
                        </a:rPr>
                        <a:t>High memory overhead for large corpora</a:t>
                      </a:r>
                    </a:p>
                  </a:txBody>
                  <a:tcPr marL="76200" marR="76200" marT="38100" marB="38100"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4" name="Rectangle 3"/>
          <p:cNvSpPr/>
          <p:nvPr/>
        </p:nvSpPr>
        <p:spPr>
          <a:xfrm>
            <a:off x="548640" y="1417320"/>
            <a:ext cx="11064240" cy="5074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22960" y="1508760"/>
            <a:ext cx="5120640" cy="4572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800" b="1">
                <a:solidFill>
                  <a:srgbClr val="FFFFFF"/>
                </a:solidFill>
              </a:rPr>
              <a:t>Problem Statement</a:t>
            </a:r>
          </a:p>
        </p:txBody>
      </p:sp>
      <p:sp>
        <p:nvSpPr>
          <p:cNvPr id="6" name="Rounded Rectangle 5"/>
          <p:cNvSpPr/>
          <p:nvPr/>
        </p:nvSpPr>
        <p:spPr>
          <a:xfrm>
            <a:off x="6217920" y="1508760"/>
            <a:ext cx="5120640" cy="4572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800" b="1">
                <a:solidFill>
                  <a:srgbClr val="FFFFFF"/>
                </a:solidFill>
              </a:rPr>
              <a:t>Objectives</a:t>
            </a:r>
          </a:p>
        </p:txBody>
      </p:sp>
      <p:sp>
        <p:nvSpPr>
          <p:cNvPr id="7" name="TextBox 6"/>
          <p:cNvSpPr txBox="1"/>
          <p:nvPr/>
        </p:nvSpPr>
        <p:spPr>
          <a:xfrm>
            <a:off x="822960" y="2103120"/>
            <a:ext cx="5120640" cy="4206240"/>
          </a:xfrm>
          <a:prstGeom prst="rect">
            <a:avLst/>
          </a:prstGeom>
          <a:noFill/>
        </p:spPr>
        <p:txBody>
          <a:bodyPr wrap="square">
            <a:spAutoFit/>
          </a:bodyPr>
          <a:lstStyle/>
          <a:p>
            <a:pPr marL="228600" indent="-228600" algn="l">
              <a:spcAft>
                <a:spcPts val="1400"/>
              </a:spcAft>
              <a:buFont typeface="Arial"/>
              <a:buChar char="•"/>
            </a:pPr>
            <a:r>
              <a:rPr sz="1500">
                <a:solidFill>
                  <a:srgbClr val="333333"/>
                </a:solidFill>
              </a:rPr>
              <a:t>Exact-match search engines fail to return results when a query contains spelling mistakes, phonetic errors, or transposed characters.</a:t>
            </a:r>
          </a:p>
          <a:p>
            <a:pPr marL="228600" indent="-228600" algn="l">
              <a:spcAft>
                <a:spcPts val="1400"/>
              </a:spcAft>
              <a:buFont typeface="Arial"/>
              <a:buChar char="•"/>
            </a:pPr>
            <a:r>
              <a:rPr sz="1500">
                <a:solidFill>
                  <a:srgbClr val="333333"/>
                </a:solidFill>
              </a:rPr>
              <a:t>Comparing a query against every dictionary word individually is computationally expensive and does not scale to large dictionaries.</a:t>
            </a:r>
          </a:p>
          <a:p>
            <a:pPr marL="228600" indent="-228600" algn="l">
              <a:spcAft>
                <a:spcPts val="1400"/>
              </a:spcAft>
              <a:buFont typeface="Arial"/>
              <a:buChar char="•"/>
            </a:pPr>
            <a:r>
              <a:rPr sz="1500">
                <a:solidFill>
                  <a:srgbClr val="333333"/>
                </a:solidFill>
              </a:rPr>
              <a:t>Most existing systems lack robust support for multilingual and Unicode text.</a:t>
            </a:r>
          </a:p>
        </p:txBody>
      </p:sp>
      <p:sp>
        <p:nvSpPr>
          <p:cNvPr id="8" name="TextBox 7"/>
          <p:cNvSpPr txBox="1"/>
          <p:nvPr/>
        </p:nvSpPr>
        <p:spPr>
          <a:xfrm>
            <a:off x="6217920" y="2103120"/>
            <a:ext cx="5120640" cy="4206240"/>
          </a:xfrm>
          <a:prstGeom prst="rect">
            <a:avLst/>
          </a:prstGeom>
          <a:noFill/>
        </p:spPr>
        <p:txBody>
          <a:bodyPr wrap="square">
            <a:spAutoFit/>
          </a:bodyPr>
          <a:lstStyle/>
          <a:p>
            <a:pPr marL="228600" indent="-228600" algn="l">
              <a:spcAft>
                <a:spcPts val="1400"/>
              </a:spcAft>
              <a:buFont typeface="Arial"/>
              <a:buChar char="•"/>
            </a:pPr>
            <a:r>
              <a:rPr sz="1500">
                <a:solidFill>
                  <a:srgbClr val="333333"/>
                </a:solidFill>
              </a:rPr>
              <a:t>Design a fuzzy search system that computes the Levenshtein Edit Distance between a query and dictionary entries.</a:t>
            </a:r>
          </a:p>
          <a:p>
            <a:pPr marL="228600" indent="-228600" algn="l">
              <a:spcAft>
                <a:spcPts val="1400"/>
              </a:spcAft>
              <a:buFont typeface="Arial"/>
              <a:buChar char="•"/>
            </a:pPr>
            <a:r>
              <a:rPr sz="1500">
                <a:solidFill>
                  <a:srgbClr val="333333"/>
                </a:solidFill>
              </a:rPr>
              <a:t>Rank candidate suggestions by similarity score and return the most relevant top-K matches.</a:t>
            </a:r>
          </a:p>
          <a:p>
            <a:pPr marL="228600" indent="-228600" algn="l">
              <a:spcAft>
                <a:spcPts val="1400"/>
              </a:spcAft>
              <a:buFont typeface="Arial"/>
              <a:buChar char="•"/>
            </a:pPr>
            <a:r>
              <a:rPr sz="1500">
                <a:solidFill>
                  <a:srgbClr val="333333"/>
                </a:solidFill>
              </a:rPr>
              <a:t>Optimize the underlying approach so the system scales efficiently to large dictionaries.</a:t>
            </a:r>
          </a:p>
          <a:p>
            <a:pPr marL="228600" indent="-228600" algn="l">
              <a:spcAft>
                <a:spcPts val="1400"/>
              </a:spcAft>
              <a:buFont typeface="Arial"/>
              <a:buChar char="•"/>
            </a:pPr>
            <a:r>
              <a:rPr sz="1500">
                <a:solidFill>
                  <a:srgbClr val="333333"/>
                </a:solidFill>
              </a:rPr>
              <a:t>Ensure the system supports multilingual text through Unicode-based processing.</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4" name="Rectangle 3"/>
          <p:cNvSpPr/>
          <p:nvPr/>
        </p:nvSpPr>
        <p:spPr>
          <a:xfrm>
            <a:off x="548640" y="1417320"/>
            <a:ext cx="11064240" cy="5074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600200"/>
            <a:ext cx="10515600" cy="2194560"/>
          </a:xfrm>
          <a:prstGeom prst="rect">
            <a:avLst/>
          </a:prstGeom>
          <a:noFill/>
        </p:spPr>
        <p:txBody>
          <a:bodyPr wrap="square">
            <a:spAutoFit/>
          </a:bodyPr>
          <a:lstStyle/>
          <a:p>
            <a:pPr marL="228600" indent="-228600" algn="l">
              <a:spcAft>
                <a:spcPts val="1200"/>
              </a:spcAft>
              <a:buFont typeface="Arial"/>
              <a:buChar char="•"/>
            </a:pPr>
            <a:r>
              <a:rPr sz="1700">
                <a:solidFill>
                  <a:srgbClr val="333333"/>
                </a:solidFill>
              </a:rPr>
              <a:t>The system was tested with a standard English dictionary and a set of common misspelled queries.</a:t>
            </a:r>
          </a:p>
          <a:p>
            <a:pPr marL="228600" indent="-228600" algn="l">
              <a:spcAft>
                <a:spcPts val="1200"/>
              </a:spcAft>
              <a:buFont typeface="Arial"/>
              <a:buChar char="•"/>
            </a:pPr>
            <a:r>
              <a:rPr sz="1700">
                <a:solidFill>
                  <a:srgbClr val="333333"/>
                </a:solidFill>
              </a:rPr>
              <a:t>For each misspelled query, the top ranked suggestions were generated based on similarity score.</a:t>
            </a:r>
          </a:p>
          <a:p>
            <a:pPr marL="228600" indent="-228600" algn="l">
              <a:spcAft>
                <a:spcPts val="1200"/>
              </a:spcAft>
              <a:buFont typeface="Arial"/>
              <a:buChar char="•"/>
            </a:pPr>
            <a:r>
              <a:rPr sz="1700">
                <a:solidFill>
                  <a:srgbClr val="333333"/>
                </a:solidFill>
              </a:rPr>
              <a:t>The correct word was consistently returned within the top few suggestions for common typing errors (insertions, deletions, substitutions, transpositions).</a:t>
            </a:r>
          </a:p>
          <a:p>
            <a:pPr marL="228600" indent="-228600" algn="l">
              <a:spcAft>
                <a:spcPts val="1200"/>
              </a:spcAft>
              <a:buFont typeface="Arial"/>
              <a:buChar char="•"/>
            </a:pPr>
            <a:r>
              <a:rPr sz="1700">
                <a:solidFill>
                  <a:srgbClr val="333333"/>
                </a:solidFill>
              </a:rPr>
              <a:t>Search response time remained low even as the dictionary size increased, showing that the approach scales well to larger word lists.</a:t>
            </a:r>
          </a:p>
        </p:txBody>
      </p:sp>
      <p:graphicFrame>
        <p:nvGraphicFramePr>
          <p:cNvPr id="6" name="Table 5"/>
          <p:cNvGraphicFramePr>
            <a:graphicFrameLocks noGrp="1"/>
          </p:cNvGraphicFramePr>
          <p:nvPr/>
        </p:nvGraphicFramePr>
        <p:xfrm>
          <a:off x="822960" y="4160520"/>
          <a:ext cx="10515600" cy="2011680"/>
        </p:xfrm>
        <a:graphic>
          <a:graphicData uri="http://schemas.openxmlformats.org/drawingml/2006/table">
            <a:tbl>
              <a:tblPr firstRow="1" bandRow="1">
                <a:tableStyleId>{5C22544A-7EE6-4342-B048-85BDC9FD1C3A}</a:tableStyleId>
              </a:tblPr>
              <a:tblGrid>
                <a:gridCol w="3154680">
                  <a:extLst>
                    <a:ext uri="{9D8B030D-6E8A-4147-A177-3AD203B41FA5}">
                      <a16:colId xmlns:a16="http://schemas.microsoft.com/office/drawing/2014/main" val="20000"/>
                    </a:ext>
                  </a:extLst>
                </a:gridCol>
                <a:gridCol w="2734056">
                  <a:extLst>
                    <a:ext uri="{9D8B030D-6E8A-4147-A177-3AD203B41FA5}">
                      <a16:colId xmlns:a16="http://schemas.microsoft.com/office/drawing/2014/main" val="20001"/>
                    </a:ext>
                  </a:extLst>
                </a:gridCol>
                <a:gridCol w="2313432">
                  <a:extLst>
                    <a:ext uri="{9D8B030D-6E8A-4147-A177-3AD203B41FA5}">
                      <a16:colId xmlns:a16="http://schemas.microsoft.com/office/drawing/2014/main" val="20002"/>
                    </a:ext>
                  </a:extLst>
                </a:gridCol>
                <a:gridCol w="2313432">
                  <a:extLst>
                    <a:ext uri="{9D8B030D-6E8A-4147-A177-3AD203B41FA5}">
                      <a16:colId xmlns:a16="http://schemas.microsoft.com/office/drawing/2014/main" val="20003"/>
                    </a:ext>
                  </a:extLst>
                </a:gridCol>
              </a:tblGrid>
              <a:tr h="402336">
                <a:tc>
                  <a:txBody>
                    <a:bodyPr/>
                    <a:lstStyle/>
                    <a:p>
                      <a:pPr algn="ctr"/>
                      <a:r>
                        <a:rPr sz="1400" b="1">
                          <a:solidFill>
                            <a:srgbClr val="FFFFFF"/>
                          </a:solidFill>
                        </a:rPr>
                        <a:t>Misspelled Query</a:t>
                      </a:r>
                    </a:p>
                  </a:txBody>
                  <a:tcPr anchor="ctr">
                    <a:solidFill>
                      <a:srgbClr val="C00000"/>
                    </a:solidFill>
                  </a:tcPr>
                </a:tc>
                <a:tc>
                  <a:txBody>
                    <a:bodyPr/>
                    <a:lstStyle/>
                    <a:p>
                      <a:pPr algn="ctr"/>
                      <a:r>
                        <a:rPr sz="1400" b="1">
                          <a:solidFill>
                            <a:srgbClr val="FFFFFF"/>
                          </a:solidFill>
                        </a:rPr>
                        <a:t>Top Suggestion</a:t>
                      </a:r>
                    </a:p>
                  </a:txBody>
                  <a:tcPr anchor="ctr">
                    <a:solidFill>
                      <a:srgbClr val="C00000"/>
                    </a:solidFill>
                  </a:tcPr>
                </a:tc>
                <a:tc>
                  <a:txBody>
                    <a:bodyPr/>
                    <a:lstStyle/>
                    <a:p>
                      <a:pPr algn="ctr"/>
                      <a:r>
                        <a:rPr sz="1400" b="1">
                          <a:solidFill>
                            <a:srgbClr val="FFFFFF"/>
                          </a:solidFill>
                        </a:rPr>
                        <a:t>Edit Distance</a:t>
                      </a:r>
                    </a:p>
                  </a:txBody>
                  <a:tcPr anchor="ctr">
                    <a:solidFill>
                      <a:srgbClr val="C00000"/>
                    </a:solidFill>
                  </a:tcPr>
                </a:tc>
                <a:tc>
                  <a:txBody>
                    <a:bodyPr/>
                    <a:lstStyle/>
                    <a:p>
                      <a:pPr algn="ctr"/>
                      <a:r>
                        <a:rPr sz="1400" b="1">
                          <a:solidFill>
                            <a:srgbClr val="FFFFFF"/>
                          </a:solidFill>
                        </a:rPr>
                        <a:t>Similarity</a:t>
                      </a:r>
                    </a:p>
                  </a:txBody>
                  <a:tcPr anchor="ctr">
                    <a:solidFill>
                      <a:srgbClr val="C00000"/>
                    </a:solidFill>
                  </a:tcPr>
                </a:tc>
                <a:extLst>
                  <a:ext uri="{0D108BD9-81ED-4DB2-BD59-A6C34878D82A}">
                    <a16:rowId xmlns:a16="http://schemas.microsoft.com/office/drawing/2014/main" val="10000"/>
                  </a:ext>
                </a:extLst>
              </a:tr>
              <a:tr h="402336">
                <a:tc>
                  <a:txBody>
                    <a:bodyPr/>
                    <a:lstStyle/>
                    <a:p>
                      <a:pPr algn="ctr"/>
                      <a:r>
                        <a:rPr sz="1400" b="0">
                          <a:solidFill>
                            <a:srgbClr val="333333"/>
                          </a:solidFill>
                        </a:rPr>
                        <a:t>recieve</a:t>
                      </a:r>
                    </a:p>
                  </a:txBody>
                  <a:tcPr anchor="ctr">
                    <a:solidFill>
                      <a:srgbClr val="FFFFFF"/>
                    </a:solidFill>
                  </a:tcPr>
                </a:tc>
                <a:tc>
                  <a:txBody>
                    <a:bodyPr/>
                    <a:lstStyle/>
                    <a:p>
                      <a:pPr algn="ctr"/>
                      <a:r>
                        <a:rPr sz="1400" b="0">
                          <a:solidFill>
                            <a:srgbClr val="333333"/>
                          </a:solidFill>
                        </a:rPr>
                        <a:t>receive</a:t>
                      </a:r>
                    </a:p>
                  </a:txBody>
                  <a:tcPr anchor="ctr">
                    <a:solidFill>
                      <a:srgbClr val="FFFFFF"/>
                    </a:solidFill>
                  </a:tcPr>
                </a:tc>
                <a:tc>
                  <a:txBody>
                    <a:bodyPr/>
                    <a:lstStyle/>
                    <a:p>
                      <a:pPr algn="ctr"/>
                      <a:r>
                        <a:rPr sz="1400" b="0">
                          <a:solidFill>
                            <a:srgbClr val="333333"/>
                          </a:solidFill>
                        </a:rPr>
                        <a:t>1</a:t>
                      </a:r>
                    </a:p>
                  </a:txBody>
                  <a:tcPr anchor="ctr">
                    <a:solidFill>
                      <a:srgbClr val="FFFFFF"/>
                    </a:solidFill>
                  </a:tcPr>
                </a:tc>
                <a:tc>
                  <a:txBody>
                    <a:bodyPr/>
                    <a:lstStyle/>
                    <a:p>
                      <a:pPr algn="ctr"/>
                      <a:r>
                        <a:rPr sz="1400" b="0">
                          <a:solidFill>
                            <a:srgbClr val="333333"/>
                          </a:solidFill>
                        </a:rPr>
                        <a:t>~98%</a:t>
                      </a:r>
                    </a:p>
                  </a:txBody>
                  <a:tcPr anchor="ctr">
                    <a:solidFill>
                      <a:srgbClr val="FFFFFF"/>
                    </a:solidFill>
                  </a:tcPr>
                </a:tc>
                <a:extLst>
                  <a:ext uri="{0D108BD9-81ED-4DB2-BD59-A6C34878D82A}">
                    <a16:rowId xmlns:a16="http://schemas.microsoft.com/office/drawing/2014/main" val="10001"/>
                  </a:ext>
                </a:extLst>
              </a:tr>
              <a:tr h="402336">
                <a:tc>
                  <a:txBody>
                    <a:bodyPr/>
                    <a:lstStyle/>
                    <a:p>
                      <a:pPr algn="ctr"/>
                      <a:r>
                        <a:rPr sz="1400" b="0">
                          <a:solidFill>
                            <a:srgbClr val="333333"/>
                          </a:solidFill>
                        </a:rPr>
                        <a:t>definately</a:t>
                      </a:r>
                    </a:p>
                  </a:txBody>
                  <a:tcPr anchor="ctr">
                    <a:solidFill>
                      <a:srgbClr val="F2F2F2"/>
                    </a:solidFill>
                  </a:tcPr>
                </a:tc>
                <a:tc>
                  <a:txBody>
                    <a:bodyPr/>
                    <a:lstStyle/>
                    <a:p>
                      <a:pPr algn="ctr"/>
                      <a:r>
                        <a:rPr sz="1400" b="0">
                          <a:solidFill>
                            <a:srgbClr val="333333"/>
                          </a:solidFill>
                        </a:rPr>
                        <a:t>definitely</a:t>
                      </a:r>
                    </a:p>
                  </a:txBody>
                  <a:tcPr anchor="ctr">
                    <a:solidFill>
                      <a:srgbClr val="F2F2F2"/>
                    </a:solidFill>
                  </a:tcPr>
                </a:tc>
                <a:tc>
                  <a:txBody>
                    <a:bodyPr/>
                    <a:lstStyle/>
                    <a:p>
                      <a:pPr algn="ctr"/>
                      <a:r>
                        <a:rPr sz="1400" b="0">
                          <a:solidFill>
                            <a:srgbClr val="333333"/>
                          </a:solidFill>
                        </a:rPr>
                        <a:t>2</a:t>
                      </a:r>
                    </a:p>
                  </a:txBody>
                  <a:tcPr anchor="ctr">
                    <a:solidFill>
                      <a:srgbClr val="F2F2F2"/>
                    </a:solidFill>
                  </a:tcPr>
                </a:tc>
                <a:tc>
                  <a:txBody>
                    <a:bodyPr/>
                    <a:lstStyle/>
                    <a:p>
                      <a:pPr algn="ctr"/>
                      <a:r>
                        <a:rPr sz="1400" b="0">
                          <a:solidFill>
                            <a:srgbClr val="333333"/>
                          </a:solidFill>
                        </a:rPr>
                        <a:t>~93%</a:t>
                      </a:r>
                    </a:p>
                  </a:txBody>
                  <a:tcPr anchor="ctr">
                    <a:solidFill>
                      <a:srgbClr val="F2F2F2"/>
                    </a:solidFill>
                  </a:tcPr>
                </a:tc>
                <a:extLst>
                  <a:ext uri="{0D108BD9-81ED-4DB2-BD59-A6C34878D82A}">
                    <a16:rowId xmlns:a16="http://schemas.microsoft.com/office/drawing/2014/main" val="10002"/>
                  </a:ext>
                </a:extLst>
              </a:tr>
              <a:tr h="402336">
                <a:tc>
                  <a:txBody>
                    <a:bodyPr/>
                    <a:lstStyle/>
                    <a:p>
                      <a:pPr algn="ctr"/>
                      <a:r>
                        <a:rPr sz="1400" b="0">
                          <a:solidFill>
                            <a:srgbClr val="333333"/>
                          </a:solidFill>
                        </a:rPr>
                        <a:t>teh</a:t>
                      </a:r>
                    </a:p>
                  </a:txBody>
                  <a:tcPr anchor="ctr">
                    <a:solidFill>
                      <a:srgbClr val="FFFFFF"/>
                    </a:solidFill>
                  </a:tcPr>
                </a:tc>
                <a:tc>
                  <a:txBody>
                    <a:bodyPr/>
                    <a:lstStyle/>
                    <a:p>
                      <a:pPr algn="ctr"/>
                      <a:r>
                        <a:rPr sz="1400" b="0">
                          <a:solidFill>
                            <a:srgbClr val="333333"/>
                          </a:solidFill>
                        </a:rPr>
                        <a:t>the</a:t>
                      </a:r>
                    </a:p>
                  </a:txBody>
                  <a:tcPr anchor="ctr">
                    <a:solidFill>
                      <a:srgbClr val="FFFFFF"/>
                    </a:solidFill>
                  </a:tcPr>
                </a:tc>
                <a:tc>
                  <a:txBody>
                    <a:bodyPr/>
                    <a:lstStyle/>
                    <a:p>
                      <a:pPr algn="ctr"/>
                      <a:r>
                        <a:rPr sz="1400" b="0">
                          <a:solidFill>
                            <a:srgbClr val="333333"/>
                          </a:solidFill>
                        </a:rPr>
                        <a:t>1</a:t>
                      </a:r>
                    </a:p>
                  </a:txBody>
                  <a:tcPr anchor="ctr">
                    <a:solidFill>
                      <a:srgbClr val="FFFFFF"/>
                    </a:solidFill>
                  </a:tcPr>
                </a:tc>
                <a:tc>
                  <a:txBody>
                    <a:bodyPr/>
                    <a:lstStyle/>
                    <a:p>
                      <a:pPr algn="ctr"/>
                      <a:r>
                        <a:rPr sz="1400" b="0">
                          <a:solidFill>
                            <a:srgbClr val="333333"/>
                          </a:solidFill>
                        </a:rPr>
                        <a:t>~90%</a:t>
                      </a:r>
                    </a:p>
                  </a:txBody>
                  <a:tcPr anchor="ctr">
                    <a:solidFill>
                      <a:srgbClr val="FFFFFF"/>
                    </a:solidFill>
                  </a:tcPr>
                </a:tc>
                <a:extLst>
                  <a:ext uri="{0D108BD9-81ED-4DB2-BD59-A6C34878D82A}">
                    <a16:rowId xmlns:a16="http://schemas.microsoft.com/office/drawing/2014/main" val="10003"/>
                  </a:ext>
                </a:extLst>
              </a:tr>
              <a:tr h="402336">
                <a:tc>
                  <a:txBody>
                    <a:bodyPr/>
                    <a:lstStyle/>
                    <a:p>
                      <a:pPr algn="ctr"/>
                      <a:r>
                        <a:rPr sz="1400" b="0">
                          <a:solidFill>
                            <a:srgbClr val="333333"/>
                          </a:solidFill>
                        </a:rPr>
                        <a:t>algoritm</a:t>
                      </a:r>
                    </a:p>
                  </a:txBody>
                  <a:tcPr anchor="ctr">
                    <a:solidFill>
                      <a:srgbClr val="F2F2F2"/>
                    </a:solidFill>
                  </a:tcPr>
                </a:tc>
                <a:tc>
                  <a:txBody>
                    <a:bodyPr/>
                    <a:lstStyle/>
                    <a:p>
                      <a:pPr algn="ctr"/>
                      <a:r>
                        <a:rPr sz="1400" b="0">
                          <a:solidFill>
                            <a:srgbClr val="333333"/>
                          </a:solidFill>
                        </a:rPr>
                        <a:t>algorithm</a:t>
                      </a:r>
                    </a:p>
                  </a:txBody>
                  <a:tcPr anchor="ctr">
                    <a:solidFill>
                      <a:srgbClr val="F2F2F2"/>
                    </a:solidFill>
                  </a:tcPr>
                </a:tc>
                <a:tc>
                  <a:txBody>
                    <a:bodyPr/>
                    <a:lstStyle/>
                    <a:p>
                      <a:pPr algn="ctr"/>
                      <a:r>
                        <a:rPr sz="1400" b="0">
                          <a:solidFill>
                            <a:srgbClr val="333333"/>
                          </a:solidFill>
                        </a:rPr>
                        <a:t>1</a:t>
                      </a:r>
                    </a:p>
                  </a:txBody>
                  <a:tcPr anchor="ctr">
                    <a:solidFill>
                      <a:srgbClr val="F2F2F2"/>
                    </a:solidFill>
                  </a:tcPr>
                </a:tc>
                <a:tc>
                  <a:txBody>
                    <a:bodyPr/>
                    <a:lstStyle/>
                    <a:p>
                      <a:pPr algn="ctr"/>
                      <a:r>
                        <a:rPr sz="1400" b="0">
                          <a:solidFill>
                            <a:srgbClr val="333333"/>
                          </a:solidFill>
                        </a:rPr>
                        <a:t>~95%</a:t>
                      </a:r>
                    </a:p>
                  </a:txBody>
                  <a:tcPr anchor="ctr">
                    <a:solidFill>
                      <a:srgbClr val="F2F2F2"/>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6092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4" name="Rectangle 3"/>
          <p:cNvSpPr/>
          <p:nvPr/>
        </p:nvSpPr>
        <p:spPr>
          <a:xfrm>
            <a:off x="548640" y="1417320"/>
            <a:ext cx="11064240" cy="5074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22960" y="1508760"/>
            <a:ext cx="5120640" cy="4572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dirty="0">
                <a:solidFill>
                  <a:srgbClr val="FFFFFF"/>
                </a:solidFill>
              </a:rPr>
              <a:t>Hardware Requirements</a:t>
            </a:r>
          </a:p>
        </p:txBody>
      </p:sp>
      <p:sp>
        <p:nvSpPr>
          <p:cNvPr id="6" name="Rounded Rectangle 5"/>
          <p:cNvSpPr/>
          <p:nvPr/>
        </p:nvSpPr>
        <p:spPr>
          <a:xfrm>
            <a:off x="6217920" y="1508760"/>
            <a:ext cx="5120640" cy="4572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rPr>
              <a:t>Software Requirements</a:t>
            </a:r>
          </a:p>
        </p:txBody>
      </p:sp>
      <p:sp>
        <p:nvSpPr>
          <p:cNvPr id="7" name="TextBox 6"/>
          <p:cNvSpPr txBox="1"/>
          <p:nvPr/>
        </p:nvSpPr>
        <p:spPr>
          <a:xfrm>
            <a:off x="822960" y="2103120"/>
            <a:ext cx="5120640" cy="1692771"/>
          </a:xfrm>
          <a:prstGeom prst="rect">
            <a:avLst/>
          </a:prstGeom>
          <a:noFill/>
        </p:spPr>
        <p:txBody>
          <a:bodyPr wrap="square">
            <a:spAutoFit/>
          </a:bodyPr>
          <a:lstStyle/>
          <a:p>
            <a:pPr marL="228600" indent="-228600" algn="l">
              <a:spcAft>
                <a:spcPts val="1600"/>
              </a:spcAft>
              <a:buFont typeface="Arial"/>
              <a:buChar char="•"/>
            </a:pPr>
            <a:r>
              <a:rPr sz="1600" dirty="0">
                <a:solidFill>
                  <a:srgbClr val="333333"/>
                </a:solidFill>
              </a:rPr>
              <a:t>Processor: Intel i5 (or equivalent) and above</a:t>
            </a:r>
          </a:p>
          <a:p>
            <a:pPr marL="228600" indent="-228600" algn="l">
              <a:spcAft>
                <a:spcPts val="1600"/>
              </a:spcAft>
              <a:buFont typeface="Arial"/>
              <a:buChar char="•"/>
            </a:pPr>
            <a:r>
              <a:rPr sz="1600" dirty="0">
                <a:solidFill>
                  <a:srgbClr val="333333"/>
                </a:solidFill>
              </a:rPr>
              <a:t>RAM: 8 GB or more</a:t>
            </a:r>
          </a:p>
          <a:p>
            <a:pPr marL="228600" indent="-228600" algn="l">
              <a:spcAft>
                <a:spcPts val="1600"/>
              </a:spcAft>
              <a:buFont typeface="Arial"/>
              <a:buChar char="•"/>
            </a:pPr>
            <a:r>
              <a:rPr sz="1600" dirty="0">
                <a:solidFill>
                  <a:srgbClr val="333333"/>
                </a:solidFill>
              </a:rPr>
              <a:t>Storage: 500 MB free disk space</a:t>
            </a:r>
          </a:p>
          <a:p>
            <a:pPr algn="l">
              <a:spcAft>
                <a:spcPts val="1600"/>
              </a:spcAft>
            </a:pPr>
            <a:endParaRPr sz="1600" dirty="0">
              <a:solidFill>
                <a:srgbClr val="333333"/>
              </a:solidFill>
            </a:endParaRPr>
          </a:p>
        </p:txBody>
      </p:sp>
      <p:sp>
        <p:nvSpPr>
          <p:cNvPr id="8" name="TextBox 7"/>
          <p:cNvSpPr txBox="1"/>
          <p:nvPr/>
        </p:nvSpPr>
        <p:spPr>
          <a:xfrm>
            <a:off x="6217920" y="2103120"/>
            <a:ext cx="5120640" cy="4206240"/>
          </a:xfrm>
          <a:prstGeom prst="rect">
            <a:avLst/>
          </a:prstGeom>
          <a:noFill/>
        </p:spPr>
        <p:txBody>
          <a:bodyPr wrap="square">
            <a:spAutoFit/>
          </a:bodyPr>
          <a:lstStyle/>
          <a:p>
            <a:pPr marL="228600" indent="-228600" algn="l">
              <a:spcAft>
                <a:spcPts val="1600"/>
              </a:spcAft>
              <a:buFont typeface="Arial"/>
              <a:buChar char="•"/>
            </a:pPr>
            <a:r>
              <a:rPr sz="1600">
                <a:solidFill>
                  <a:srgbClr val="333333"/>
                </a:solidFill>
              </a:rPr>
              <a:t>Operating System: Windows / Linux / macOS</a:t>
            </a:r>
          </a:p>
          <a:p>
            <a:pPr marL="228600" indent="-228600" algn="l">
              <a:spcAft>
                <a:spcPts val="1600"/>
              </a:spcAft>
              <a:buFont typeface="Arial"/>
              <a:buChar char="•"/>
            </a:pPr>
            <a:r>
              <a:rPr sz="1600">
                <a:solidFill>
                  <a:srgbClr val="333333"/>
                </a:solidFill>
              </a:rPr>
              <a:t>Programming Language: Python 3.x</a:t>
            </a:r>
          </a:p>
          <a:p>
            <a:pPr marL="228600" indent="-228600" algn="l">
              <a:spcAft>
                <a:spcPts val="1600"/>
              </a:spcAft>
              <a:buFont typeface="Arial"/>
              <a:buChar char="•"/>
            </a:pPr>
            <a:r>
              <a:rPr sz="1600">
                <a:solidFill>
                  <a:srgbClr val="333333"/>
                </a:solidFill>
              </a:rPr>
              <a:t>IDE: VS Code / PyCharm / Jupyter Notebook</a:t>
            </a:r>
          </a:p>
          <a:p>
            <a:pPr marL="228600" indent="-228600" algn="l">
              <a:spcAft>
                <a:spcPts val="1600"/>
              </a:spcAft>
              <a:buFont typeface="Arial"/>
              <a:buChar char="•"/>
            </a:pPr>
            <a:r>
              <a:rPr sz="1600">
                <a:solidFill>
                  <a:srgbClr val="333333"/>
                </a:solidFill>
              </a:rPr>
              <a:t>Libraries: string/regex utilities, custom DP-based edit-distance module</a:t>
            </a:r>
          </a:p>
          <a:p>
            <a:pPr marL="228600" indent="-228600" algn="l">
              <a:spcAft>
                <a:spcPts val="1600"/>
              </a:spcAft>
              <a:buFont typeface="Arial"/>
              <a:buChar char="•"/>
            </a:pPr>
            <a:r>
              <a:rPr sz="1600">
                <a:solidFill>
                  <a:srgbClr val="333333"/>
                </a:solidFill>
              </a:rPr>
              <a:t>Version Control: Git &amp; GitHub</a:t>
            </a:r>
          </a:p>
        </p:txBody>
      </p:sp>
    </p:spTree>
    <p:extLst>
      <p:ext uri="{BB962C8B-B14F-4D97-AF65-F5344CB8AC3E}">
        <p14:creationId xmlns:p14="http://schemas.microsoft.com/office/powerpoint/2010/main" val="2292750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4" name="Rectangle 3"/>
          <p:cNvSpPr/>
          <p:nvPr/>
        </p:nvSpPr>
        <p:spPr>
          <a:xfrm>
            <a:off x="548640" y="1417320"/>
            <a:ext cx="11064240" cy="5074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691640"/>
            <a:ext cx="10515600" cy="4572000"/>
          </a:xfrm>
          <a:prstGeom prst="rect">
            <a:avLst/>
          </a:prstGeom>
          <a:noFill/>
        </p:spPr>
        <p:txBody>
          <a:bodyPr wrap="square">
            <a:spAutoFit/>
          </a:bodyPr>
          <a:lstStyle/>
          <a:p>
            <a:pPr marL="228600" indent="-228600" algn="l">
              <a:spcAft>
                <a:spcPts val="1600"/>
              </a:spcAft>
              <a:buFont typeface="Arial"/>
              <a:buChar char="•"/>
            </a:pPr>
            <a:r>
              <a:rPr sz="1900">
                <a:solidFill>
                  <a:srgbClr val="333333"/>
                </a:solidFill>
              </a:rPr>
              <a:t>The proposed Fuzzy Search Engine successfully retrieves relevant words even when user queries contain spelling errors.</a:t>
            </a:r>
          </a:p>
          <a:p>
            <a:pPr marL="228600" indent="-228600" algn="l">
              <a:spcAft>
                <a:spcPts val="1600"/>
              </a:spcAft>
              <a:buFont typeface="Arial"/>
              <a:buChar char="•"/>
            </a:pPr>
            <a:r>
              <a:rPr sz="1900">
                <a:solidFill>
                  <a:srgbClr val="333333"/>
                </a:solidFill>
              </a:rPr>
              <a:t>Using Levenshtein Edit Distance as the core similarity metric enables accurate detection of insertions, deletions, and substitutions.</a:t>
            </a:r>
          </a:p>
          <a:p>
            <a:pPr marL="228600" indent="-228600" algn="l">
              <a:spcAft>
                <a:spcPts val="1600"/>
              </a:spcAft>
              <a:buFont typeface="Arial"/>
              <a:buChar char="•"/>
            </a:pPr>
            <a:r>
              <a:rPr sz="1900">
                <a:solidFill>
                  <a:srgbClr val="333333"/>
                </a:solidFill>
              </a:rPr>
              <a:t>Ranking suggestions by similarity score ensures that the most relevant corrections are shown to the user first.</a:t>
            </a:r>
          </a:p>
          <a:p>
            <a:pPr marL="228600" indent="-228600" algn="l">
              <a:spcAft>
                <a:spcPts val="1600"/>
              </a:spcAft>
              <a:buFont typeface="Arial"/>
              <a:buChar char="•"/>
            </a:pPr>
            <a:r>
              <a:rPr sz="1900">
                <a:solidFill>
                  <a:srgbClr val="333333"/>
                </a:solidFill>
              </a:rPr>
              <a:t>The system design supports large dictionaries and multilingual text, making it suitable for real-world search applications.</a:t>
            </a:r>
          </a:p>
          <a:p>
            <a:pPr marL="228600" indent="-228600" algn="l">
              <a:spcAft>
                <a:spcPts val="1600"/>
              </a:spcAft>
              <a:buFont typeface="Arial"/>
              <a:buChar char="•"/>
            </a:pPr>
            <a:r>
              <a:rPr sz="1900">
                <a:solidFill>
                  <a:srgbClr val="333333"/>
                </a:solidFill>
              </a:rPr>
              <a:t>Overall, the project demonstrates that edit-distance based fuzzy matching significantly improves the search experience despite typing mistakes.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5" name="Rectangle 4"/>
          <p:cNvSpPr/>
          <p:nvPr/>
        </p:nvSpPr>
        <p:spPr>
          <a:xfrm>
            <a:off x="548640" y="1417320"/>
            <a:ext cx="11064240" cy="5074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691640"/>
            <a:ext cx="10515600" cy="4572000"/>
          </a:xfrm>
          <a:prstGeom prst="rect">
            <a:avLst/>
          </a:prstGeom>
          <a:noFill/>
        </p:spPr>
        <p:txBody>
          <a:bodyPr wrap="square">
            <a:spAutoFit/>
          </a:bodyPr>
          <a:lstStyle/>
          <a:p>
            <a:pPr marL="228600" indent="-228600" algn="l">
              <a:spcAft>
                <a:spcPts val="1600"/>
              </a:spcAft>
              <a:buFont typeface="Arial"/>
              <a:buChar char="•"/>
            </a:pPr>
            <a:r>
              <a:rPr sz="1900">
                <a:solidFill>
                  <a:srgbClr val="333333"/>
                </a:solidFill>
              </a:rPr>
              <a:t>Incorporate phonetic algorithms (e.g., Soundex, Metaphone) to catch errors that edit distance alone does not capture well.</a:t>
            </a:r>
          </a:p>
          <a:p>
            <a:pPr marL="228600" indent="-228600" algn="l">
              <a:spcAft>
                <a:spcPts val="1600"/>
              </a:spcAft>
              <a:buFont typeface="Arial"/>
              <a:buChar char="•"/>
            </a:pPr>
            <a:r>
              <a:rPr sz="1900">
                <a:solidFill>
                  <a:srgbClr val="333333"/>
                </a:solidFill>
              </a:rPr>
              <a:t>Use advanced indexing structures such as BK-Trees or Tries to further speed up candidate retrieval for very large dictionaries.</a:t>
            </a:r>
          </a:p>
          <a:p>
            <a:pPr marL="228600" indent="-228600" algn="l">
              <a:spcAft>
                <a:spcPts val="1600"/>
              </a:spcAft>
              <a:buFont typeface="Arial"/>
              <a:buChar char="•"/>
            </a:pPr>
            <a:r>
              <a:rPr sz="1900">
                <a:solidFill>
                  <a:srgbClr val="333333"/>
                </a:solidFill>
              </a:rPr>
              <a:t>Integrate machine learning / language models to improve ranking using context, not just string similarity.</a:t>
            </a:r>
          </a:p>
          <a:p>
            <a:pPr marL="228600" indent="-228600" algn="l">
              <a:spcAft>
                <a:spcPts val="1600"/>
              </a:spcAft>
              <a:buFont typeface="Arial"/>
              <a:buChar char="•"/>
            </a:pPr>
            <a:r>
              <a:rPr sz="1900">
                <a:solidFill>
                  <a:srgbClr val="333333"/>
                </a:solidFill>
              </a:rPr>
              <a:t>Extend support to more languages and script types with deeper Unicode normalization.</a:t>
            </a:r>
          </a:p>
          <a:p>
            <a:pPr marL="228600" indent="-228600" algn="l">
              <a:spcAft>
                <a:spcPts val="1600"/>
              </a:spcAft>
              <a:buFont typeface="Arial"/>
              <a:buChar char="•"/>
            </a:pPr>
            <a:r>
              <a:rPr sz="1900">
                <a:solidFill>
                  <a:srgbClr val="333333"/>
                </a:solidFill>
              </a:rPr>
              <a:t>Deploy the system as a web API or browser extension for real-time fuzzy search integration.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
        <p:nvSpPr>
          <p:cNvPr id="4" name="TextBox 3"/>
          <p:cNvSpPr txBox="1"/>
          <p:nvPr/>
        </p:nvSpPr>
        <p:spPr>
          <a:xfrm>
            <a:off x="5988384" y="3931920"/>
            <a:ext cx="184731" cy="584775"/>
          </a:xfrm>
          <a:prstGeom prst="rect">
            <a:avLst/>
          </a:prstGeom>
          <a:noFill/>
        </p:spPr>
        <p:txBody>
          <a:bodyPr wrap="none">
            <a:spAutoFit/>
          </a:bodyPr>
          <a:lstStyle/>
          <a:p>
            <a:pPr algn="ctr"/>
            <a:endParaRPr lang="en-IN" sz="1600" i="1" dirty="0">
              <a:solidFill>
                <a:srgbClr val="333333"/>
              </a:solidFill>
            </a:endParaRPr>
          </a:p>
          <a:p>
            <a:pPr algn="ctr"/>
            <a:endParaRPr sz="1600" i="1" dirty="0">
              <a:solidFill>
                <a:srgbClr val="333333"/>
              </a:solidFill>
            </a:endParaRP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TotalTime>
  <Words>889</Words>
  <Application>Microsoft Office PowerPoint</Application>
  <PresentationFormat>Widescreen</PresentationFormat>
  <Paragraphs>109</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       Data Structures and Algorithms -3 (25CS2103E)  Fuzzy Search Engine Using Edit Distance Algorithms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MUDIREDDY CHARANTEJ REDDY .</cp:lastModifiedBy>
  <cp:revision>21</cp:revision>
  <dcterms:created xsi:type="dcterms:W3CDTF">2024-08-29T05:25:00Z</dcterms:created>
  <dcterms:modified xsi:type="dcterms:W3CDTF">2026-09-09T08:37:56Z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